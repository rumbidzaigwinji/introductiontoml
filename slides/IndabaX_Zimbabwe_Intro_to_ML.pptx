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37376"/>
            <a:ext cx="113385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IndabaX Zimbabwe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097280"/>
            <a:ext cx="5394960" cy="5394960"/>
          </a:xfrm>
          <a:prstGeom prst="arc">
            <a:avLst/>
          </a:prstGeom>
          <a:solidFill>
            <a:srgbClr val="0B5FFF">
              <a:alpha val="28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4389120"/>
            <a:ext cx="4114800" cy="4114800"/>
          </a:xfrm>
          <a:prstGeom prst="arc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 to Machine Learning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889504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BFF"/>
                </a:solidFill>
              </a:rPr>
              <a:t>From Data to Models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DEE9"/>
                </a:solidFill>
              </a:rPr>
              <a:t>Understanding the ideas, mathematics, and workflow behind 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93008"/>
            <a:ext cx="265176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60807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D8"/>
                </a:solidFill>
              </a:rPr>
              <a:t>Deep Learning IndabaX Zimbabwe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B5FFF">
              <a:alpha val="1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B5FFF">
              <a:alpha val="9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Machine Learning?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B5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B5FFF">
              <a:alpha val="9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/ ML / DL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600200"/>
            <a:ext cx="73152" cy="182880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013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Traditional programming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4526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Rules + Data → Answers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Humans write explicit instructions.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16002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00200"/>
            <a:ext cx="73152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8013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286000"/>
            <a:ext cx="4526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Data + Answers → Rules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model learns patterns from examples.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409651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3312" y="4069080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rules are too complex to manually define.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5994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53312" y="4572000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spam detection, crop yield prediction, face recognition, translation, disease risk prediction.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B5FFF">
              <a:alpha val="1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B5FFF">
              <a:alpha val="9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vs ML vs Deep Learning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B5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B5FFF">
              <a:alpha val="9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/ ML / DL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05840" y="1481328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FFF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70432" y="1600200"/>
            <a:ext cx="9820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 ⊃ Machine Learning ⊃ Deep Learning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97480"/>
            <a:ext cx="73152" cy="210312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986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Artificial Intelligence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0976" y="34381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5FFF"/>
                </a:solidFill>
              </a:rPr>
              <a:t>●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52728" y="3410712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field of building systems that appear intelligent.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50976" y="37490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5FFF"/>
                </a:solidFill>
              </a:rPr>
              <a:t>●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52728" y="3721608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 chatbot.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269748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2697480"/>
            <a:ext cx="73152" cy="2103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8986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08576" y="34381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10328" y="3410712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Subset of AI where systems learn from data.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08576" y="37490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●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10328" y="3721608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 spam classifier.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269748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2697480"/>
            <a:ext cx="73152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8986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Deep Learning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66176" y="34381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●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67928" y="3410712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Subset of ML using neural networks with many layers.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66176" y="37490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●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67928" y="3721608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face recognition with CNNs.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F766E">
              <a:alpha val="1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F766E">
              <a:alpha val="9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Main Types of ML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F766E">
              <a:alpha val="9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Types of ML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78440" cy="2377440"/>
        </p:xfrm>
        <a:graphic>
          <a:graphicData uri="http://schemas.openxmlformats.org/drawingml/2006/table">
            <a:tbl>
              <a:tblPr/>
              <a:tblGrid>
                <a:gridCol w="3459480"/>
                <a:gridCol w="3459480"/>
                <a:gridCol w="34594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Learns From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Supervised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with labels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 house price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Unsupervised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without labels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 customers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Reinforcement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Rewards and penalties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 a game-playing agent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51560" y="45994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53312" y="4572000"/>
            <a:ext cx="9555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ML settings depend on what feedback the model receives.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50566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53312" y="5029200"/>
            <a:ext cx="9555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practical notebook will focus on supervised learning.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F766E">
              <a:alpha val="1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F766E">
              <a:alpha val="9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Supervised Learning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F766E">
              <a:alpha val="9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Types of ML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698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0F766E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1536192"/>
            <a:ext cx="10369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(xᵢ, yᵢ)     where     xᵢ = input features,  yᵢ = correct answer / label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71800" y="2331720"/>
            <a:ext cx="6217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36392" y="2450592"/>
            <a:ext cx="5888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Goal:  f(xᵢ) ≈ yᵢ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33649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44752" y="3337560"/>
            <a:ext cx="9555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sees examples with correct answers.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7764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44752" y="3749040"/>
            <a:ext cx="9555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learns a mapping from inputs to outputs.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1879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</a:rPr>
              <a:t>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44752" y="4160520"/>
            <a:ext cx="9555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beginner-friendly setup.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5994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44752" y="4572000"/>
            <a:ext cx="95554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salary prediction, malaria risk classification, SMS spam detection.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F766E">
              <a:alpha val="1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F766E">
              <a:alpha val="9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Unsupervised Learning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F766E">
              <a:alpha val="9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Types of ML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05840" y="1389888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F766E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70432" y="1508760"/>
            <a:ext cx="9820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without labels:  x₁, x₂, x₃, …, xₙ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68680" y="251460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514600"/>
            <a:ext cx="73152" cy="2331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157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Goal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88136" y="32552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766E"/>
                </a:solidFill>
              </a:rPr>
              <a:t>●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89888" y="3227832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structure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88136" y="356616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766E"/>
                </a:solidFill>
              </a:rPr>
              <a:t>●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89888" y="3538728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patterns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88136" y="38770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766E"/>
                </a:solidFill>
              </a:rPr>
              <a:t>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89888" y="3849624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similar data points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251460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2514600"/>
            <a:ext cx="73152" cy="2331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157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Examples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54296" y="32552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●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56048" y="3227832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54296" y="356616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●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56048" y="3538728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discovery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54296" y="38770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●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3849624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unusual transactions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54296" y="41879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●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56048" y="4160520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 high-dimensional data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01000" y="251460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01000" y="2514600"/>
            <a:ext cx="73152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7157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Algorithms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0456" y="32552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●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22208" y="3227832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clustering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20456" y="356616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●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22208" y="3538728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0456" y="38770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●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22208" y="3849624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DBSCAN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F766E">
              <a:alpha val="1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F766E">
              <a:alpha val="9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Reinforcement Learning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F766E">
              <a:alpha val="9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Types of ML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97280" y="1399032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F766E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61872" y="1517904"/>
            <a:ext cx="96377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→ Action → Reward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2971800" y="2331720"/>
            <a:ext cx="6263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36392" y="2450592"/>
            <a:ext cx="5934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Goal:  maximize  Σ Rₜ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97280" y="341071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99032" y="3383280"/>
            <a:ext cx="9646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tries actions.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8221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99032" y="3794760"/>
            <a:ext cx="9646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actions are rewarded; bad actions are penalized.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2336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</a:rPr>
              <a:t>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99032" y="4206240"/>
            <a:ext cx="9646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 time, it learns a strategy.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6451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766E"/>
                </a:solidFill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99032" y="4617720"/>
            <a:ext cx="9646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game-playing AI, robotics, self-driving simulations, resource allocation.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B5FFF">
              <a:alpha val="1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B5FFF">
              <a:alpha val="9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Regression?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B5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B5FFF">
              <a:alpha val="9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Regression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0" y="141732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FFF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22192" y="1536192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 = f(x)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2560320"/>
            <a:ext cx="47548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560320"/>
            <a:ext cx="73152" cy="26517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7614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Regression predicts a continuous numeric 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33009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35608" y="3273552"/>
            <a:ext cx="4069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 price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3856" y="36484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3621024"/>
            <a:ext cx="4069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39959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35608" y="3968496"/>
            <a:ext cx="4069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yield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3856" y="43434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35608" y="4315968"/>
            <a:ext cx="4069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revenue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3856" y="46908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35608" y="4663440"/>
            <a:ext cx="4069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Electricity demand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2560320"/>
            <a:ext cx="47548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2560320"/>
            <a:ext cx="73152" cy="2651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7614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Notation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11696" y="33009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13448" y="3273552"/>
            <a:ext cx="4069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predicted numeric value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11696" y="36850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13448" y="3657600"/>
            <a:ext cx="4069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input features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11696" y="406908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13448" y="4041648"/>
            <a:ext cx="4069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= learned mapping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B5FFF">
              <a:alpha val="1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B5FFF">
              <a:alpha val="9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Linear Regression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B5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B5FFF">
              <a:alpha val="9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Regression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834640" y="1417320"/>
            <a:ext cx="6492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B5FFF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99232" y="1536192"/>
            <a:ext cx="6163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 = wx + b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697480"/>
            <a:ext cx="73152" cy="23774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8986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Terms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42416" y="34381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44168" y="3410712"/>
            <a:ext cx="3063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weight / slope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" y="38039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44168" y="3776472"/>
            <a:ext cx="3063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bias / intercept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2416" y="41696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44168" y="4142232"/>
            <a:ext cx="3063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input feature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2416" y="45354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44168" y="4507992"/>
            <a:ext cx="3063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prediction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0" y="2423160"/>
            <a:ext cx="5212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4709160"/>
            <a:ext cx="4114800" cy="-1737360"/>
          </a:xfrm>
          <a:prstGeom prst="line">
            <a:avLst/>
          </a:prstGeom>
          <a:noFill/>
          <a:ln w="2921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4434840"/>
            <a:ext cx="109728" cy="109728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4069080"/>
            <a:ext cx="109728" cy="109728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4160520"/>
            <a:ext cx="109728" cy="109728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3657600"/>
            <a:ext cx="109728" cy="109728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474720"/>
            <a:ext cx="109728" cy="109728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3035808"/>
            <a:ext cx="109728" cy="109728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0" y="3182112"/>
            <a:ext cx="109728" cy="109728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21240" y="2697480"/>
            <a:ext cx="109728" cy="109728"/>
          </a:xfrm>
          <a:prstGeom prst="ellipse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5257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model learns the best line through the data by minimizing prediction errors.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B5FFF">
              <a:alpha val="1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B5FFF">
              <a:alpha val="9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Error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B5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B5FFF">
              <a:alpha val="9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Regression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0" y="1389888"/>
            <a:ext cx="6720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B5FFF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07792" y="1508760"/>
            <a:ext cx="6391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errorᵢ = yᵢ − ŷᵢ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0120" y="2606040"/>
            <a:ext cx="46634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2606040"/>
            <a:ext cx="73152" cy="24231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80720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957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3319272"/>
            <a:ext cx="3977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yᵢ = true value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9576" y="37307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81328" y="3703320"/>
            <a:ext cx="3977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ŷᵢ = predicted 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9576" y="41148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81328" y="4087368"/>
            <a:ext cx="3977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gap → small error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9576" y="44988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81328" y="4471416"/>
            <a:ext cx="3977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gap → large error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2606040"/>
            <a:ext cx="46634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606040"/>
            <a:ext cx="73152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80720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6597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67728" y="3319272"/>
            <a:ext cx="3977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tries to reduce these errors.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65976" y="37307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67728" y="3703320"/>
            <a:ext cx="3977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summarize errors across the test set.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65976" y="41148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67728" y="4087368"/>
            <a:ext cx="3977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metrics punish mistakes differently.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F97316">
              <a:alpha val="1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F97316">
              <a:alpha val="9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Classification?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97316">
              <a:alpha val="9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Classification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789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97316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1536192"/>
            <a:ext cx="10460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 ∈ {0, 1}        or        ŷ ∈ {1, 2, 3, …, K}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256032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560320"/>
            <a:ext cx="73152" cy="2651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76148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Classification predicts a category or class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33009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35608" y="327355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Spam / not spam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3856" y="36484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3621024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/ no disease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39959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35608" y="3968496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/ not fraud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3856" y="43434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35608" y="4315968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Cat, dog, or bird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3856" y="46908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35608" y="4663440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or fail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2560320"/>
            <a:ext cx="48920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2560320"/>
            <a:ext cx="73152" cy="26517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7614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Key idea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0256" y="33009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22008" y="3273552"/>
            <a:ext cx="4206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is discrete.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20256" y="37033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22008" y="3675888"/>
            <a:ext cx="4206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chooses among possible labels.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20256" y="41056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22008" y="4078224"/>
            <a:ext cx="4206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classifiers first estimate probabilities.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F97316">
              <a:alpha val="1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F97316">
              <a:alpha val="9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vs Multiclass Classification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97316">
              <a:alpha val="9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Classification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49377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691640"/>
            <a:ext cx="73152" cy="3154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9280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Binary classification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89888" y="240487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∈ {0, 1}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88136" y="29352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" y="290779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/ not fraud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8136" y="34381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89888" y="341071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Sick / not sick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1691640"/>
            <a:ext cx="49377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691640"/>
            <a:ext cx="73152" cy="3154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89280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Multiclass classification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025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22008" y="240487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∈ {1, 2, 3, …, K}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0256" y="287121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22008" y="2843784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Handwritten digits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20256" y="33101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22008" y="3282696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disease type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0256" y="37490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22008" y="3721608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Animal species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F97316">
              <a:alpha val="1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F97316">
              <a:alpha val="9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as Probability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97316">
              <a:alpha val="9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Classification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931920" y="1371600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97316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96512" y="1490472"/>
            <a:ext cx="3968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P(y = 1 | x)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063240" y="2331720"/>
            <a:ext cx="6035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B5FFF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27832" y="2450592"/>
            <a:ext cx="5705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P(spam | x) = 0.87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88720" y="34290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0472" y="3401568"/>
            <a:ext cx="9372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estimates an 87% probability that the message is spam.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9319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90472" y="3904488"/>
            <a:ext cx="9372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threshold converts probability into a class.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4348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0472" y="4407408"/>
            <a:ext cx="9372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if P(y=1|x) ≥ 0.5, then ŷ = 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Features and Labels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 Math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7C3AE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1444752"/>
            <a:ext cx="103692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 = {(x₁, y₁), (x₂, y₂), …, (xₙ, yₙ)}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2240280" y="23317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B5FFF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04872" y="2450592"/>
            <a:ext cx="7351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∈ ℝⁿˣᵈ        y ∈ ℝⁿ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926080" y="3401568"/>
            <a:ext cx="6355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0" y="3401568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36027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Where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45536" y="4142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47288" y="4114800"/>
            <a:ext cx="56692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number of examples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45536" y="44531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47288" y="4425696"/>
            <a:ext cx="56692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number of features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45536" y="47640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47288" y="4736592"/>
            <a:ext cx="56692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feature matrix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45536" y="50749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47288" y="5047488"/>
            <a:ext cx="56692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label vector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Function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 Math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0" y="141732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C3AE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05072" y="1536192"/>
            <a:ext cx="4151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 = fθ(x)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960120" y="260604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2606040"/>
            <a:ext cx="73152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80720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Notation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957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3319272"/>
            <a:ext cx="36118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θ = model parameters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79576" y="38039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81328" y="3776472"/>
            <a:ext cx="36118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input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9576" y="42611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4233672"/>
            <a:ext cx="36118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prediction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89320" y="283464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53912" y="2953512"/>
            <a:ext cx="44256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θ* = arg minθ L(y, ŷ)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08076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Training means finding the parameter values that minimize the loss.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Function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 Math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C3AE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62272" y="1444752"/>
            <a:ext cx="3236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L(y, ŷ)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868680" y="24231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423160"/>
            <a:ext cx="73152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6243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88136" y="31638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9888" y="3136392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loss function measures how wrong the model is.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88136" y="3575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3547872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loss is better.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24231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2423160"/>
            <a:ext cx="73152" cy="23774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6243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Regression example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0016" y="31638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01768" y="3136392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L(y, ŷ) = (y − ŷ)²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0016" y="3575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FFF"/>
                </a:solidFill>
              </a:rPr>
              <a:t>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01768" y="3547872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Squared error penalizes large mistakes.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92440" y="24231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2440" y="2423160"/>
            <a:ext cx="73152" cy="2377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6243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Classification example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11896" y="31638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13648" y="3136392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penalizes confident wrong predictions.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11896" y="3575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13648" y="3547872"/>
            <a:ext cx="27889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example: cross-entropy loss.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Objective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 Math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51560" y="141732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16152" y="1536192"/>
            <a:ext cx="972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J(θ) = 1/n Σᵢ₌₁ⁿ L(yᵢ, fθ(xᵢ))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828800" y="27706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0552" y="2743200"/>
            <a:ext cx="8641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prediction for every example.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2278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30552" y="3200400"/>
            <a:ext cx="8641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prediction to true answer.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6850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30552" y="3657600"/>
            <a:ext cx="8641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all errors.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4142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30552" y="4114800"/>
            <a:ext cx="8641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parameters to reduce this value.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 Descent Intuition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Training Math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7086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24912" y="1536192"/>
            <a:ext cx="6757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θ := θ − α ∇θ J(θ)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868680" y="2606040"/>
            <a:ext cx="49377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606040"/>
            <a:ext cx="73152" cy="2240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80720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Terms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8813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9888" y="331927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 = learning 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88136" y="38039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377647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∇θJ(θ) = direction of steepest increase in loss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606040"/>
            <a:ext cx="49377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2606040"/>
            <a:ext cx="73152" cy="2240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80720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Intuition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025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22008" y="331927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parameters in the direction that reduces loss.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0256" y="37581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373075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small: slow learning.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0256" y="41696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22008" y="4142232"/>
            <a:ext cx="42519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large: unstable learning.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Metrics Matter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51560" y="1417320"/>
            <a:ext cx="10058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16152" y="1536192"/>
            <a:ext cx="972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performance ≠ Real-world performance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4440" y="27706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36192" y="2743200"/>
            <a:ext cx="9372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is not useful just because it trains.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2095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36192" y="3182112"/>
            <a:ext cx="9372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well does it perform on unseen data?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484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36192" y="3621024"/>
            <a:ext cx="9372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type of mistakes does it make?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0873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36192" y="4059936"/>
            <a:ext cx="9372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those mistakes acceptable?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Metrics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691640"/>
            <a:ext cx="73152" cy="2194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928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MAE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21488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Mean Absolute 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Average absolute prediction error.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1880" y="16916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11880" y="1691640"/>
            <a:ext cx="73152" cy="219456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8928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2377440"/>
            <a:ext cx="21488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Mean Squared 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Penalizes large errors strongly.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16916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691640"/>
            <a:ext cx="73152" cy="2194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8928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RMSE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2377440"/>
            <a:ext cx="21488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Root Mean Squared 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Returns error to original units.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81160" y="16916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81160" y="1691640"/>
            <a:ext cx="73152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18928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R²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09760" y="2377440"/>
            <a:ext cx="17373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Explained variance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How much variation the model explains.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7365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53312" y="4709160"/>
            <a:ext cx="97383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metrics summarize how far numeric predictions are from true values.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Mean Absolute Error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0" y="1417320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53312" y="1536192"/>
            <a:ext cx="9454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MAE = 1/n Σᵢ₌₁ⁿ |yᵢ − ŷᵢ|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7706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81912" y="2743200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absolute prediction error.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095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81912" y="3182112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explain.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6484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81912" y="3621024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units as the target.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81912" y="4059936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if predicting house prices in USD, MAE is also in USD.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Mean Squared Error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0" y="1417320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53312" y="1536192"/>
            <a:ext cx="9454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MSE = 1/n Σᵢ₌₁ⁿ (yᵢ − ŷᵢ)²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9077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81912" y="2880360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Penalizes large errors more strongly.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38328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81912" y="3355848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big mistakes are especially costly.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587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81912" y="3831336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 are squared, so it can be less intuitive.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Root Mean Squared Error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6432" y="1536192"/>
            <a:ext cx="53400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RMSE = √MSE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417320" y="29077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19072" y="2880360"/>
            <a:ext cx="9006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to MSE but returned to original units.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38328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19072" y="3355848"/>
            <a:ext cx="9006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to large errors.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587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19072" y="3831336"/>
            <a:ext cx="9006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used in regression tasks.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Metrics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69164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691640"/>
            <a:ext cx="73152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928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Accuracy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1645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Overall correctness.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63240" y="169164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63240" y="1691640"/>
            <a:ext cx="73152" cy="201168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8928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Precision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1645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Quality of positive predictions.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49240" y="169164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9240" y="1691640"/>
            <a:ext cx="73152" cy="2011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8928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Recall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77840" y="2377440"/>
            <a:ext cx="1645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Ability to find actual positives.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35240" y="169164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35240" y="1691640"/>
            <a:ext cx="73152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8928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F1-score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63840" y="2377440"/>
            <a:ext cx="1645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Balance precision and recall.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921240" y="169164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21240" y="1691640"/>
            <a:ext cx="73152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0" y="1892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Confusion Matrix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49840" y="2377440"/>
            <a:ext cx="12801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Shows TP, TN, FP, FN.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5079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53312" y="4480560"/>
            <a:ext cx="97383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metrics depend on the cost of different mistakes.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600200"/>
          <a:ext cx="9921240" cy="2103120"/>
        </p:xfrm>
        <a:graphic>
          <a:graphicData uri="http://schemas.openxmlformats.org/drawingml/2006/table">
            <a:tbl>
              <a:tblPr/>
              <a:tblGrid>
                <a:gridCol w="3307080"/>
                <a:gridCol w="3307080"/>
                <a:gridCol w="330708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Predicted Positive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Predicted Negative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Actual Positive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TP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C26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Actual Negative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973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FP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A3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280160" y="41879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81912" y="4160520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TP: correctly predicted positive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45354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81912" y="4507992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TN: correctly predicted negative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80160" y="488289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581912" y="4855464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FP: predicted positive but actually negative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80160" y="52303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581912" y="5202936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FN: predicted negative but actually positive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1536192"/>
            <a:ext cx="10369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 = (TP + TN) / (TP + TN + FP + FN)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269748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697480"/>
            <a:ext cx="73152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89864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34381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35608" y="3410712"/>
            <a:ext cx="3520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Fraction of correct predictions.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0" y="25146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2514600"/>
            <a:ext cx="73152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7157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Warning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71616" y="32552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C2626"/>
                </a:solidFill>
              </a:rPr>
              <a:t>●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373368" y="3227832"/>
            <a:ext cx="4617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can be misleading with imbalanced data.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6071616" y="360273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C2626"/>
                </a:solidFill>
              </a:rPr>
              <a:t>●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6373368" y="3575304"/>
            <a:ext cx="4617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if 95% of patients do not have a disease, predicting “no disease” for everyone gives 95% accuracy.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57400" y="14173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21992" y="1536192"/>
            <a:ext cx="77175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 = TP / (TP + FP)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14400" y="260604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606040"/>
            <a:ext cx="73152" cy="19202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80720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Question it answers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291840"/>
            <a:ext cx="4434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Of everything the model predicted as positive, how many were truly positive?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606040"/>
            <a:ext cx="73152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80720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Useful when false positives are costly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025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22008" y="3319272"/>
            <a:ext cx="4160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detection investigation workload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0256" y="37124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2008" y="3685032"/>
            <a:ext cx="4160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Incorrectly blocking legitimate accounts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Recall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40280" y="1417320"/>
            <a:ext cx="7726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04872" y="1536192"/>
            <a:ext cx="7397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Recall = TP / (TP + FN)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14400" y="260604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606040"/>
            <a:ext cx="73152" cy="19202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80720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Question it answers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291840"/>
            <a:ext cx="4434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Of all actual positives, how many did the model find?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60604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80720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Useful when false negatives are costly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025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22008" y="3319272"/>
            <a:ext cx="4160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screening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0256" y="37581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2008" y="3730752"/>
            <a:ext cx="4160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threat detection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F1-Score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698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16A34A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1536192"/>
            <a:ext cx="10369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F1 = 2 × (Precision × Recall) / (Precision + Recall)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9077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73352" y="2880360"/>
            <a:ext cx="8915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Balances precision and recall.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73352" y="3355848"/>
            <a:ext cx="8915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classes are imbalanced.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8587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73352" y="3831336"/>
            <a:ext cx="8915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F1 means both precision and recall are reasonably strong.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F97316">
              <a:alpha val="1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F97316">
              <a:alpha val="9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Data Cleaning Comes Before Modeling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97316">
              <a:alpha val="9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 Cleaning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6675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97316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53512" y="1536192"/>
            <a:ext cx="6345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Poor Data → Poor Model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828800" y="2606040"/>
            <a:ext cx="85496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0" y="2606040"/>
            <a:ext cx="73152" cy="2606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8072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Models learn patterns from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4825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50008" y="3319272"/>
            <a:ext cx="7863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48256" y="36576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50008" y="3630168"/>
            <a:ext cx="7863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48256" y="396849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50008" y="3941064"/>
            <a:ext cx="7863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records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48256" y="42793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50008" y="4251960"/>
            <a:ext cx="7863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data types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48256" y="45902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50008" y="4562856"/>
            <a:ext cx="7863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 variables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48256" y="49011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50008" y="4873752"/>
            <a:ext cx="7863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feature scales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F97316">
              <a:alpha val="1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F97316">
              <a:alpha val="9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 Values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97316">
              <a:alpha val="9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 Cleaning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4800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691640"/>
            <a:ext cx="73152" cy="3291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928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Common strategies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89888" y="2404872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rows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88136" y="287121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89888" y="2843784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with mean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88136" y="331012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89888" y="3282696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with median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88136" y="374904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9888" y="3721608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with mode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88136" y="41879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9888" y="4160520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model-based imputation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1691640"/>
            <a:ext cx="4800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691640"/>
            <a:ext cx="73152" cy="32918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8928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Important judgement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2025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5FFF"/>
                </a:solidFill>
              </a:rPr>
              <a:t>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22008" y="2404872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 method depends on the problem.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0256" y="28895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5FFF"/>
                </a:solidFill>
              </a:rPr>
              <a:t>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22008" y="2862072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Missingness itself may contain information.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2025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5FFF"/>
                </a:solidFill>
              </a:rPr>
              <a:t>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22008" y="3319272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leaking information from the test set.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F97316">
              <a:alpha val="1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F97316">
              <a:alpha val="9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Scaling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97316">
              <a:alpha val="9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 Cleaning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97316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33272" y="1490472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Standardization:  z = (x − μ) / σ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257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B5FFF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36792" y="1490472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Normalization:  x′ = (x − xₘᵢₙ) / (xₘₐₓ − xₘᵢₙ)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9077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90472" y="2880360"/>
            <a:ext cx="9464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helps models compare features fairly.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3649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90472" y="3337560"/>
            <a:ext cx="9464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Especially important for distance-based and gradient-based methods.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8221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90472" y="3794760"/>
            <a:ext cx="9464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KNN, K-Means, Logistic Regression, Neural Networks.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B5FFF">
              <a:alpha val="1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B5FFF">
              <a:alpha val="9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ML Workflow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B5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B5FFF">
              <a:alpha val="9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Workflow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1531620" cy="640080"/>
          </a:xfrm>
          <a:prstGeom prst="roundRect">
            <a:avLst>
              <a:gd name="adj" fmla="val 11429"/>
            </a:avLst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01368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90572" y="1810512"/>
            <a:ext cx="201168" cy="22860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6604" y="1600200"/>
            <a:ext cx="153162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2324" y="1801368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51376" y="1810512"/>
            <a:ext cx="201168" cy="22860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1600200"/>
            <a:ext cx="1531620" cy="640080"/>
          </a:xfrm>
          <a:prstGeom prst="roundRect">
            <a:avLst>
              <a:gd name="adj" fmla="val 11429"/>
            </a:avLst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1801368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12180" y="1810512"/>
            <a:ext cx="201168" cy="22860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8212" y="1600200"/>
            <a:ext cx="153162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3932" y="1801368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72984" y="1810512"/>
            <a:ext cx="201168" cy="22860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9016" y="1600200"/>
            <a:ext cx="1531620" cy="640080"/>
          </a:xfrm>
          <a:prstGeom prst="roundRect">
            <a:avLst>
              <a:gd name="adj" fmla="val 11429"/>
            </a:avLst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4736" y="1801368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33788" y="1810512"/>
            <a:ext cx="201168" cy="22860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89820" y="1600200"/>
            <a:ext cx="153162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35540" y="1801368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Improve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43000" y="2880360"/>
            <a:ext cx="9875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143000" y="2880360"/>
            <a:ext cx="73152" cy="2377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081528"/>
            <a:ext cx="946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What each stage means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62456" y="36210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64208" y="3593592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Data: collect and understand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362456" y="39319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64208" y="3904488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Clean: fix quality issues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362456" y="424281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64208" y="4215384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Split: separate train and test data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362456" y="455371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4526280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Train: fit model parameters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362456" y="48646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664208" y="4837176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Evaluate: measure performance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362456" y="51755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664208" y="5148072"/>
            <a:ext cx="9189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Improve: iterate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B5FFF">
              <a:alpha val="1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B5FFF">
              <a:alpha val="9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Train, Validation, and Test Sets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B5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B5FFF">
              <a:alpha val="9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Workflow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28800"/>
            <a:ext cx="73152" cy="21488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299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Training Set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5694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5FFF"/>
                </a:solidFill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89888" y="254203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parameters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828800"/>
            <a:ext cx="73152" cy="2148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0299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Validation Set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54296" y="25694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56048" y="254203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model / settings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01000" y="182880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828800"/>
            <a:ext cx="73152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0299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Test Set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0456" y="25694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22208" y="254203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34440" y="48280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36192" y="4800600"/>
            <a:ext cx="9372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warning: do not tune repeatedly on the test 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0B5FFF">
              <a:alpha val="1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0B5FFF">
              <a:alpha val="9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Overfitting and Underfitting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0B5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0B5FFF">
              <a:alpha val="94000"/>
            </a:srgbClr>
          </a:solidFill>
          <a:ln w="12700">
            <a:solidFill>
              <a:srgbClr val="0B5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Workflow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691640"/>
            <a:ext cx="73152" cy="2926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928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Underfitting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</a:rPr>
              <a:t>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89888" y="240487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is too simple.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88136" y="28437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</a:rPr>
              <a:t>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89888" y="281635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training performance.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88136" y="32552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</a:rPr>
              <a:t>●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89888" y="322783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test performance.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434840" y="169164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1691640"/>
            <a:ext cx="73152" cy="2926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8928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Good fit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5429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A34A"/>
                </a:solidFill>
              </a:rPr>
              <a:t>●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56048" y="240487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useful structure.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54296" y="28437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A34A"/>
                </a:solidFill>
              </a:rPr>
              <a:t>●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56048" y="281635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training performance.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654296" y="32552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A34A"/>
                </a:solidFill>
              </a:rPr>
              <a:t>●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56048" y="322783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test performance.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001000" y="169164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01000" y="1691640"/>
            <a:ext cx="73152" cy="2926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8928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Overfitting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045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</a:rPr>
              <a:t>●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22208" y="240487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Memorizes training data.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20456" y="28437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</a:rPr>
              <a:t>●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22208" y="281635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training performance.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20456" y="32552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</a:rPr>
              <a:t>●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22208" y="3227832"/>
            <a:ext cx="2606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test performance.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3200400" y="507492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B5FFF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64992" y="5193792"/>
            <a:ext cx="5431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Goal: good generalization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Computer Vision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Other AI Concepts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60020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600200"/>
            <a:ext cx="73152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80136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35204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Computer Vision teaches machines to understand images and video.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160020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1600200"/>
            <a:ext cx="73152" cy="329184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8013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Tasks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2936" y="23408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04688" y="2313432"/>
            <a:ext cx="2423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classification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02936" y="26700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04688" y="2642616"/>
            <a:ext cx="2423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02936" y="29992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04688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segmentation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02936" y="332841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04688" y="3300984"/>
            <a:ext cx="2423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recognition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02936" y="36576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04688" y="3630168"/>
            <a:ext cx="2423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image analysis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21040" y="160020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21040" y="1600200"/>
            <a:ext cx="73152" cy="3291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18013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Examples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40496" y="23408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842248" y="2313432"/>
            <a:ext cx="2331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Detecting crop disease from leaf images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540496" y="268833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42248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Counting vehicles in traffic footage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40496" y="30358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</a:rPr>
              <a:t>●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842248" y="3008376"/>
            <a:ext cx="2331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handwritten digits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Language Processing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Other AI Concepts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60020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60020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80136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3246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NLP focuses on human language.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2971800" cy="34290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600200"/>
            <a:ext cx="73152" cy="3429000"/>
          </a:xfrm>
          <a:prstGeom prst="rect">
            <a:avLst/>
          </a:prstGeom>
          <a:solidFill>
            <a:srgbClr val="0B5FFF"/>
          </a:solidFill>
          <a:ln w="12700">
            <a:solidFill>
              <a:srgbClr val="0B5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801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Tasks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74336" y="23408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76088" y="2313432"/>
            <a:ext cx="2286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classification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74336" y="265176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76088" y="2624328"/>
            <a:ext cx="2286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74336" y="29626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76088" y="2935224"/>
            <a:ext cx="2286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74336" y="32735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76088" y="3246120"/>
            <a:ext cx="2286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answering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74336" y="35844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76088" y="3557016"/>
            <a:ext cx="2286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74336" y="38953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5FFF"/>
                </a:solidFill>
              </a:rPr>
              <a:t>●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76088" y="3867912"/>
            <a:ext cx="2286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Sentiment analysis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92440" y="160020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92440" y="1600200"/>
            <a:ext cx="73152" cy="3429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1801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Examples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11896" y="23408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6A34A"/>
                </a:solidFill>
              </a:rPr>
              <a:t>●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613648" y="2313432"/>
            <a:ext cx="2560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Classifying customer feedback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311896" y="268833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6A34A"/>
                </a:solidFill>
              </a:rPr>
              <a:t>●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8613648" y="2660904"/>
            <a:ext cx="2560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Translating English to Shona or Ndebele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8311896" y="30358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6A34A"/>
                </a:solidFill>
              </a:rPr>
              <a:t>●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8613648" y="3008376"/>
            <a:ext cx="2560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Summarizing reports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Systems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Other AI Concepts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10469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7C3AE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33272" y="1536192"/>
            <a:ext cx="10140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behavior + Item information → Recommendation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914400" y="2606040"/>
            <a:ext cx="3840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606040"/>
            <a:ext cx="73152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8072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Goal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291840"/>
            <a:ext cx="3429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Predict what a user may want next.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77840" y="26060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2606040"/>
            <a:ext cx="73152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8072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Examples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97296" y="33467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9048" y="3319272"/>
            <a:ext cx="45262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 recommendations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97296" y="367588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9048" y="3648456"/>
            <a:ext cx="45262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recommendations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97296" y="40050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9048" y="3977640"/>
            <a:ext cx="45262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 feed ranking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97296" y="433425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</a:rPr>
              <a:t>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9048" y="4306824"/>
            <a:ext cx="45262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recommendations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Generative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Other AI Concepts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68680" y="1691640"/>
            <a:ext cx="4800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691640"/>
            <a:ext cx="73152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928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Generative AI creates new content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3AED"/>
                </a:solidFill>
              </a:rPr>
              <a:t>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89888" y="2404872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generation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88136" y="281635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3AED"/>
                </a:solidFill>
              </a:rPr>
              <a:t>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89888" y="2788920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generation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88136" y="32004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3AED"/>
                </a:solidFill>
              </a:rPr>
              <a:t>●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89888" y="3172968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generation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88136" y="358444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3AED"/>
                </a:solidFill>
              </a:rPr>
              <a:t>●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389888" y="3557016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generation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88136" y="396849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3AED"/>
                </a:solidFill>
              </a:rPr>
              <a:t>●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89888" y="3941064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generation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0" y="1691640"/>
            <a:ext cx="4800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691640"/>
            <a:ext cx="73152" cy="3200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8928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Key distinction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2025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7316"/>
                </a:solidFill>
              </a:rPr>
              <a:t>●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22008" y="2404872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ML predicts labels or values.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620256" y="29352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7316"/>
                </a:solidFill>
              </a:rPr>
              <a:t>●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22008" y="2907792"/>
            <a:ext cx="41148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produces new samples.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Do in the Notebook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Practical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25880" y="162763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27632" y="1600200"/>
            <a:ext cx="9281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a dataset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20208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27632" y="1993392"/>
            <a:ext cx="9281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241401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27632" y="2386584"/>
            <a:ext cx="9281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missing values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28072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27632" y="2779776"/>
            <a:ext cx="9281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categorical variables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20040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27632" y="3172968"/>
            <a:ext cx="9281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data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359359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27632" y="3566160"/>
            <a:ext cx="9281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398678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27632" y="3959352"/>
            <a:ext cx="9281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performance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25880" y="437997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27632" y="4352544"/>
            <a:ext cx="9281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metrics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Style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Practical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280160" y="1691640"/>
            <a:ext cx="96012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80160" y="1691640"/>
            <a:ext cx="73152" cy="3337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892808"/>
            <a:ext cx="9189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Guided practice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99616" y="243230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01368" y="2404872"/>
            <a:ext cx="8915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cells will be incomplete.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99616" y="293522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01368" y="2907792"/>
            <a:ext cx="8915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will fill in missing parts.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99616" y="343814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01368" y="3410712"/>
            <a:ext cx="8915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cells will check your answers.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99616" y="39410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01368" y="3913632"/>
            <a:ext cx="8915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cells will be available after attempts.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-502920"/>
            <a:ext cx="1920240" cy="1920240"/>
          </a:xfrm>
          <a:prstGeom prst="arc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02920" y="5806440"/>
            <a:ext cx="1828800" cy="1828800"/>
          </a:xfrm>
          <a:prstGeom prst="arc">
            <a:avLst/>
          </a:prstGeom>
          <a:solidFill>
            <a:srgbClr val="16A34A">
              <a:alpha val="9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1828800" cy="0"/>
          </a:xfrm>
          <a:prstGeom prst="line">
            <a:avLst/>
          </a:prstGeom>
          <a:noFill/>
          <a:ln w="2794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418320" y="4572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46336" y="5303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Practical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" y="149047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</a:rPr>
              <a:t>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70432" y="1463040"/>
            <a:ext cx="10287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learns patterns from data.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</a:rPr>
              <a:t>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70432" y="1847088"/>
            <a:ext cx="10287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learning uses labels.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25856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</a:rPr>
              <a:t>●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70432" y="2231136"/>
            <a:ext cx="10287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predicts numbers.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2642616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</a:rPr>
              <a:t>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70432" y="2615184"/>
            <a:ext cx="10287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predicts categories.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8680" y="3026664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</a:rPr>
              <a:t>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70432" y="2999232"/>
            <a:ext cx="10287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depend on the task.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410712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</a:rPr>
              <a:t>●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70432" y="3383280"/>
            <a:ext cx="10287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 is essential.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68680" y="3794760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</a:rPr>
              <a:t>●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70432" y="3767328"/>
            <a:ext cx="10287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must be done on unseen data.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68680" y="4178808"/>
            <a:ext cx="201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</a:rPr>
              <a:t>●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70432" y="4151376"/>
            <a:ext cx="10287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includes areas beyond tabular ML, including computer vision and NLP.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Deep Learning IndabaX Zimbabwe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Machine Learning: From Data to Models</dc:title>
  <dc:subject>Intro to Machine Learning tutorial</dc:subject>
  <dc:creator>OpenAI</dc:creator>
  <cp:lastModifiedBy>OpenAI</cp:lastModifiedBy>
  <cp:revision>1</cp:revision>
  <dcterms:created xsi:type="dcterms:W3CDTF">2026-05-04T09:12:02Z</dcterms:created>
  <dcterms:modified xsi:type="dcterms:W3CDTF">2026-05-04T09:12:02Z</dcterms:modified>
</cp:coreProperties>
</file>